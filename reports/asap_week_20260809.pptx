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6F8B"/>
                </a:solidFill>
              </a:rPr>
              <a:t>WEEKLY PROGRESS  ·  9 AUGUST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A1D24"/>
                </a:solidFill>
              </a:rPr>
              <a:t>Delta action models on 473 real dab repetitions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</a:rPr>
              <a:t>Fixed the capture pipeline, measured where the sim-to-real gap actually is, and found that ASAP's 4-DoF choice is right, for a reason the paper does not give.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900" b="1">
                <a:solidFill>
                  <a:srgbClr val="1A1D24"/>
                </a:solidFill>
              </a:rPr>
              <a:t>Four things happened this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02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1B7F53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7556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1A1D24"/>
                </a:solidFill>
              </a:rPr>
              <a:t>Fixed three bugs in the capture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11226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</a:rPr>
              <a:t>29 mm pose error  ·  1.8% timebase drift  ·  83 mm height offset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39"/>
            <a:ext cx="502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1B7F53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80720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1A1D24"/>
                </a:solidFill>
              </a:rPr>
              <a:t>Measured where the sim-to-real gap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163823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</a:rPr>
              <a:t>All four ankle joints, 4.79x worse than everything else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502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1B7F53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85876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1A1D24"/>
                </a:solidFill>
              </a:rPr>
              <a:t>4-DoF delta model beats the full 23-DoF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1538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</a:rPr>
              <a:t>The full model cheats. Replicated across two training seeds.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37759"/>
            <a:ext cx="502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A63D40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910327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1A1D24"/>
                </a:solidFill>
              </a:rPr>
              <a:t>Fine-tuned a policy, and it cannot 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26694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</a:rPr>
              <a:t>Two causes found. Neither is fixed yet.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</a:rPr>
              <a:t>ASAP publishes no working code for steps 2, 3 or 4 of its own pipeline. All three were written this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</a:rPr>
              <a:t>RESULT 0  · 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900" b="1">
                <a:solidFill>
                  <a:srgbClr val="1A1D24"/>
                </a:solidFill>
              </a:rPr>
              <a:t>The capture data had three bugs in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02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600" b="1">
                <a:solidFill>
                  <a:srgbClr val="A63D4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728216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1A1D24"/>
                </a:solidFill>
              </a:rPr>
              <a:t>Pose solver mis-centred on partial 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112264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</a:rPr>
              <a:t>29 mm position jump whenever a marker dropped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502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600" b="1">
                <a:solidFill>
                  <a:srgbClr val="A63D4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871216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1A1D24"/>
                </a:solidFill>
              </a:rPr>
              <a:t>Frame rate stored as a float, then truncated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255264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</a:rPr>
              <a:t>48.88 became 48. A 1.8% timebase drift.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69080"/>
            <a:ext cx="502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600" b="1">
                <a:solidFill>
                  <a:srgbClr val="A63D4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14216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1A1D24"/>
                </a:solidFill>
              </a:rPr>
              <a:t>Marker cluster used as the pelvis origin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398264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</a:rPr>
              <a:t>Every root height 83 mm too 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12080"/>
            <a:ext cx="10972800" cy="640080"/>
          </a:xfrm>
          <a:prstGeom prst="roundRect">
            <a:avLst/>
          </a:prstGeom>
          <a:solidFill>
            <a:srgbClr val="E4F1EA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1B7F53"/>
                </a:solidFill>
              </a:rPr>
              <a:t>All three fixed, verified, and pushed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</a:rPr>
              <a:t>Bug 1 is explained over the next two slides. Bug 2 is the dangerous one: a wrong timebase is invisible in the training loss, and only shows up when the data is round-tripped 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</a:rPr>
              <a:t>BUG 1 EXPLAINED  · 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900" b="1">
                <a:solidFill>
                  <a:srgbClr val="1A1D24"/>
                </a:solidFill>
              </a:rPr>
              <a:t>How the pose solver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</a:rPr>
              <a:t>Four markers sit on the pelvis. The solver works out how the pelvis has turned, by comparing the shape it sees now against the shape it recorded at the 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A1D24"/>
                </a:solidFill>
              </a:rPr>
              <a:t>Two shapes, different place and angle</a:t>
            </a:r>
          </a:p>
        </p:txBody>
      </p:sp>
      <p:sp>
        <p:nvSpPr>
          <p:cNvPr id="6" name="Oval 5"/>
          <p:cNvSpPr/>
          <p:nvPr/>
        </p:nvSpPr>
        <p:spPr>
          <a:xfrm>
            <a:off x="1138428" y="3035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1641348" y="3035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1138428" y="340156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1641348" y="340156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1426463" y="3255264"/>
            <a:ext cx="164592" cy="164592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2909620" y="2969056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3344875" y="321868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2726740" y="321868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3161995" y="3468319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3072384" y="3255264"/>
            <a:ext cx="164592" cy="164592"/>
          </a:xfrm>
          <a:prstGeom prst="ellipse">
            <a:avLst/>
          </a:prstGeom>
          <a:solidFill>
            <a:srgbClr val="B4531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38404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6F8B"/>
                </a:solidFill>
              </a:rPr>
              <a:t>recorded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39" y="38404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B4531F"/>
                </a:solidFill>
              </a:rPr>
              <a:t>seen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</a:rPr>
              <a:t>Blue is the shape recorded at the start.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793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</a:rPr>
              <a:t>Orange is what the cameras see now.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1031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A1D24"/>
                </a:solidFill>
              </a:rPr>
              <a:t>Step 1:  slide them onto the same centre</a:t>
            </a:r>
          </a:p>
        </p:txBody>
      </p:sp>
      <p:sp>
        <p:nvSpPr>
          <p:cNvPr id="21" name="Oval 20"/>
          <p:cNvSpPr/>
          <p:nvPr/>
        </p:nvSpPr>
        <p:spPr>
          <a:xfrm>
            <a:off x="5710428" y="3035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6213348" y="3035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5710428" y="340156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6213348" y="340156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5835700" y="2969056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6" name="Oval 25"/>
          <p:cNvSpPr/>
          <p:nvPr/>
        </p:nvSpPr>
        <p:spPr>
          <a:xfrm>
            <a:off x="6270955" y="321868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7" name="Oval 26"/>
          <p:cNvSpPr/>
          <p:nvPr/>
        </p:nvSpPr>
        <p:spPr>
          <a:xfrm>
            <a:off x="5652820" y="321868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8" name="Oval 27"/>
          <p:cNvSpPr/>
          <p:nvPr/>
        </p:nvSpPr>
        <p:spPr>
          <a:xfrm>
            <a:off x="6088075" y="3468319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5998464" y="3255264"/>
            <a:ext cx="164592" cy="164592"/>
          </a:xfrm>
          <a:prstGeom prst="ellipse">
            <a:avLst/>
          </a:prstGeom>
          <a:solidFill>
            <a:srgbClr val="1A1D24"/>
          </a:solidFill>
          <a:ln w="12700">
            <a:solidFill>
              <a:srgbClr val="1A1D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86791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B6372"/>
                </a:solidFill>
              </a:rPr>
              <a:t>same centre, still turned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0690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</a:rPr>
              <a:t>This removes WHERE the robot is.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2793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</a:rPr>
              <a:t>It does not measure any turning.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21031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A1D24"/>
                </a:solidFill>
              </a:rPr>
              <a:t>Step 2:  search for the turn that fits</a:t>
            </a:r>
          </a:p>
        </p:txBody>
      </p:sp>
      <p:sp>
        <p:nvSpPr>
          <p:cNvPr id="34" name="Oval 33"/>
          <p:cNvSpPr/>
          <p:nvPr/>
        </p:nvSpPr>
        <p:spPr>
          <a:xfrm>
            <a:off x="9422892" y="299923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35" name="Oval 34"/>
          <p:cNvSpPr/>
          <p:nvPr/>
        </p:nvSpPr>
        <p:spPr>
          <a:xfrm>
            <a:off x="9925812" y="299923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9422892" y="33649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9925812" y="33649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38" name="Oval 37"/>
          <p:cNvSpPr/>
          <p:nvPr/>
        </p:nvSpPr>
        <p:spPr>
          <a:xfrm>
            <a:off x="9496044" y="307238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9998964" y="307238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40" name="Oval 39"/>
          <p:cNvSpPr/>
          <p:nvPr/>
        </p:nvSpPr>
        <p:spPr>
          <a:xfrm>
            <a:off x="9496044" y="343814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41" name="Oval 40"/>
          <p:cNvSpPr/>
          <p:nvPr/>
        </p:nvSpPr>
        <p:spPr>
          <a:xfrm>
            <a:off x="9998964" y="343814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42" name="Oval 41"/>
          <p:cNvSpPr/>
          <p:nvPr/>
        </p:nvSpPr>
        <p:spPr>
          <a:xfrm>
            <a:off x="9747504" y="3255264"/>
            <a:ext cx="164592" cy="164592"/>
          </a:xfrm>
          <a:prstGeom prst="ellipse">
            <a:avLst/>
          </a:prstGeom>
          <a:solidFill>
            <a:srgbClr val="1A1D24"/>
          </a:solidFill>
          <a:ln w="12700">
            <a:solidFill>
              <a:srgbClr val="1A1D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386791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B7F53"/>
                </a:solidFill>
              </a:rPr>
              <a:t>orange sits inside blue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40690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</a:rPr>
              <a:t>Try every rotation, keep the one that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42793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</a:rPr>
              <a:t>lines the markers up. That is the answer.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977639" y="3337560"/>
            <a:ext cx="457201" cy="0"/>
          </a:xfrm>
          <a:prstGeom prst="line">
            <a:avLst/>
          </a:prstGeom>
          <a:ln w="25400">
            <a:solidFill>
              <a:srgbClr val="5B63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26679" y="3337560"/>
            <a:ext cx="457200" cy="0"/>
          </a:xfrm>
          <a:prstGeom prst="line">
            <a:avLst/>
          </a:prstGeom>
          <a:ln w="25400">
            <a:solidFill>
              <a:srgbClr val="5B63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40080" y="45902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D24"/>
                </a:solidFill>
              </a:rPr>
              <a:t>Subtracting the centre does not measure the turn. It removes position, so that the turn is the only thing left to find.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90118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372"/>
                </a:solidFill>
              </a:rPr>
              <a:t>The markers are bolted to the pelvis, so they never move relative to each other, and their average is a fixed point on the body.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1023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372"/>
                </a:solidFill>
              </a:rPr>
              <a:t>Subtract it from every marker and the robot could be anywhere in the room, the numbers would be identical. Only turning changes them.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5650992"/>
            <a:ext cx="10972800" cy="566928"/>
          </a:xfrm>
          <a:prstGeom prst="roundRect">
            <a:avLst/>
          </a:prstGeom>
          <a:solidFill>
            <a:srgbClr val="E9EEF1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1F6F8B"/>
                </a:solidFill>
              </a:rPr>
              <a:t>All of this holds only while all four markers are visible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</a:rPr>
              <a:t>BUG 1 EXPLAINED  · 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900" b="1">
                <a:solidFill>
                  <a:srgbClr val="1A1D24"/>
                </a:solidFill>
              </a:rPr>
              <a:t>What went wrong</a:t>
            </a:r>
          </a:p>
        </p:txBody>
      </p:sp>
      <p:sp>
        <p:nvSpPr>
          <p:cNvPr id="4" name="Oval 3"/>
          <p:cNvSpPr/>
          <p:nvPr/>
        </p:nvSpPr>
        <p:spPr>
          <a:xfrm>
            <a:off x="1499616" y="2414015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5" name="Oval 4"/>
          <p:cNvSpPr/>
          <p:nvPr/>
        </p:nvSpPr>
        <p:spPr>
          <a:xfrm>
            <a:off x="3419856" y="2414015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1499616" y="3785615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3419856" y="3785615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79475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C9D0D6"/>
                </a:solidFill>
              </a:rPr>
              <a:t>dropped</a:t>
            </a:r>
          </a:p>
        </p:txBody>
      </p:sp>
      <p:sp>
        <p:nvSpPr>
          <p:cNvPr id="9" name="Oval 8"/>
          <p:cNvSpPr/>
          <p:nvPr/>
        </p:nvSpPr>
        <p:spPr>
          <a:xfrm>
            <a:off x="2496312" y="3136391"/>
            <a:ext cx="219456" cy="219456"/>
          </a:xfrm>
          <a:prstGeom prst="ellipse">
            <a:avLst/>
          </a:prstGeom>
          <a:solidFill>
            <a:srgbClr val="C9D0D6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2816352" y="2907791"/>
            <a:ext cx="219456" cy="219456"/>
          </a:xfrm>
          <a:prstGeom prst="ellipse">
            <a:avLst/>
          </a:prstGeom>
          <a:solidFill>
            <a:srgbClr val="A63D40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606040" y="3017520"/>
            <a:ext cx="320040" cy="228600"/>
          </a:xfrm>
          <a:prstGeom prst="line">
            <a:avLst/>
          </a:prstGeom>
          <a:ln w="28575">
            <a:solidFill>
              <a:srgbClr val="A63D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63240" y="2679191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A63D40"/>
                </a:solidFill>
              </a:rPr>
              <a:t>centre moves 29 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B6372"/>
                </a:solidFill>
              </a:rPr>
              <a:t>Lose a marker and the centre of what is left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023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B6372"/>
                </a:solidFill>
              </a:rPr>
              <a:t>is no longer the same point on the body.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94560"/>
            <a:ext cx="5212080" cy="777240"/>
          </a:xfrm>
          <a:prstGeom prst="roundRect">
            <a:avLst/>
          </a:prstGeom>
          <a:solidFill>
            <a:srgbClr val="F6E7E7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A63D40"/>
                </a:solidFill>
              </a:rPr>
              <a:t>The two shapes ended up measured</a:t>
            </a:r>
          </a:p>
          <a:p>
            <a:pPr algn="ctr">
              <a:spcAft>
                <a:spcPts val="100"/>
              </a:spcAft>
            </a:pPr>
            <a:r>
              <a:rPr sz="1350" b="0">
                <a:solidFill>
                  <a:srgbClr val="5B6372"/>
                </a:solidFill>
              </a:rPr>
              <a:t>about centres 29 mm apart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337560"/>
            <a:ext cx="5212080" cy="777240"/>
          </a:xfrm>
          <a:prstGeom prst="roundRect">
            <a:avLst/>
          </a:prstGeom>
          <a:solidFill>
            <a:srgbClr val="E4F1EA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1B7F53"/>
                </a:solidFill>
              </a:rPr>
              <a:t>Fix: re-centre the recorded shape</a:t>
            </a:r>
          </a:p>
          <a:p>
            <a:pPr algn="ctr">
              <a:spcAft>
                <a:spcPts val="100"/>
              </a:spcAft>
            </a:pPr>
            <a:r>
              <a:rPr sz="1350" b="0">
                <a:solidFill>
                  <a:srgbClr val="5B6372"/>
                </a:solidFill>
              </a:rPr>
              <a:t>on the markers that remain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480560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A1D24"/>
                </a:solidFill>
              </a:rPr>
              <a:t>predicted 29.08 mm    measured 29.08 mm</a:t>
            </a:r>
          </a:p>
          <a:p>
            <a:pPr algn="ctr"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</a:rPr>
              <a:t>after the fix:  0.38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372"/>
                </a:solidFill>
              </a:rPr>
              <a:t>With all four markers visible nothing changes, so 67,427 full frames came out bit-identical.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</a:rPr>
              <a:t>BUG 2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900" b="1">
                <a:solidFill>
                  <a:srgbClr val="1A1D24"/>
                </a:solidFill>
              </a:rPr>
              <a:t>A frame rate that was quietly rounded 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200400" cy="658368"/>
          </a:xfrm>
          <a:prstGeom prst="roundRect">
            <a:avLst/>
          </a:prstGeom>
          <a:solidFill>
            <a:srgbClr val="E9EEF1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1A1D24"/>
                </a:solidFill>
              </a:rPr>
              <a:t>we record at  48.88 Hz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77639" y="1929384"/>
            <a:ext cx="640081" cy="0"/>
          </a:xfrm>
          <a:prstGeom prst="line">
            <a:avLst/>
          </a:prstGeom>
          <a:ln w="25400">
            <a:solidFill>
              <a:srgbClr val="5B63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754880" y="1600200"/>
            <a:ext cx="2743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5B6372"/>
                </a:solidFill>
              </a:rPr>
              <a:t>ASAP rounds it DOWN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35240" y="1929384"/>
            <a:ext cx="640080" cy="0"/>
          </a:xfrm>
          <a:prstGeom prst="line">
            <a:avLst/>
          </a:prstGeom>
          <a:ln w="25400">
            <a:solidFill>
              <a:srgbClr val="A63D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412480" y="1600200"/>
            <a:ext cx="3200400" cy="658368"/>
          </a:xfrm>
          <a:prstGeom prst="roundRect">
            <a:avLst/>
          </a:prstGeom>
          <a:solidFill>
            <a:srgbClr val="F6E7E7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A63D40"/>
                </a:solidFill>
              </a:rPr>
              <a:t>played as  48 Hz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880360"/>
            <a:ext cx="50292" cy="292608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429000"/>
            <a:ext cx="50292" cy="292608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2880360"/>
            <a:ext cx="50292" cy="292608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1257300" y="3429000"/>
            <a:ext cx="50292" cy="292608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2880360"/>
            <a:ext cx="50292" cy="292608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645919" y="3429000"/>
            <a:ext cx="50292" cy="292608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880360"/>
            <a:ext cx="50292" cy="292608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2034539" y="3429000"/>
            <a:ext cx="50292" cy="292608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2880360"/>
            <a:ext cx="50292" cy="292608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3429000"/>
            <a:ext cx="50292" cy="292608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2880360"/>
            <a:ext cx="50292" cy="292608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2811780" y="3429000"/>
            <a:ext cx="50292" cy="292608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2880360"/>
            <a:ext cx="50292" cy="292608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429000"/>
            <a:ext cx="50292" cy="292608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2880360"/>
            <a:ext cx="50292" cy="292608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3589020" y="3429000"/>
            <a:ext cx="50292" cy="292608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2880360"/>
            <a:ext cx="50292" cy="292608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3429000"/>
            <a:ext cx="50292" cy="292608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2880360"/>
            <a:ext cx="50292" cy="292608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366259" y="3429000"/>
            <a:ext cx="50292" cy="292608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2880360"/>
            <a:ext cx="50292" cy="292608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3429000"/>
            <a:ext cx="50292" cy="292608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2880360"/>
            <a:ext cx="50292" cy="292608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5143500" y="3429000"/>
            <a:ext cx="50292" cy="292608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2880360"/>
            <a:ext cx="50292" cy="292608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3429000"/>
            <a:ext cx="50292" cy="292608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283464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8B"/>
                </a:solidFill>
              </a:rPr>
              <a:t>real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33832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63D40"/>
                </a:solidFill>
              </a:rPr>
              <a:t>ASAP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91363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D24"/>
                </a:solidFill>
              </a:rPr>
              <a:t>Over one whole dab, 298 frames or 6.1 seconds: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224528"/>
            <a:ext cx="2697480" cy="566928"/>
          </a:xfrm>
          <a:prstGeom prst="roundRect">
            <a:avLst/>
          </a:prstGeom>
          <a:solidFill>
            <a:srgbClr val="F6E7E7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A63D40"/>
                </a:solidFill>
              </a:rPr>
              <a:t>stored as 48</a:t>
            </a:r>
          </a:p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B6372"/>
                </a:solidFill>
              </a:rPr>
              <a:t>5.4 frames behind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29000" y="4224528"/>
            <a:ext cx="2697480" cy="566928"/>
          </a:xfrm>
          <a:prstGeom prst="roundRect">
            <a:avLst/>
          </a:prstGeom>
          <a:solidFill>
            <a:srgbClr val="E4F1EA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1B7F53"/>
                </a:solidFill>
              </a:rPr>
              <a:t>stored as 49</a:t>
            </a:r>
          </a:p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B6372"/>
                </a:solidFill>
              </a:rPr>
              <a:t>0.7 frames off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26060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D24"/>
                </a:solidFill>
              </a:rPr>
              <a:t>Caught by asking for frames 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5262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</a:rPr>
              <a:t>Ask for frame 250, get 245. The drift, mid-dab.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6766560" y="2971800"/>
          <a:ext cx="484632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468880"/>
              </a:tblGrid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5B6372"/>
                          </a:solidFill>
                        </a:rPr>
                        <a:t>Asked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5B6372"/>
                          </a:solidFill>
                        </a:rPr>
                        <a:t>Got back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D24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D24"/>
                          </a:solidFill>
                        </a:rPr>
                        <a:t>10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D24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63D40"/>
                          </a:solidFill>
                        </a:rPr>
                        <a:t>98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D24"/>
                          </a:solidFill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63D40"/>
                          </a:solidFill>
                        </a:rPr>
                        <a:t>245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3" name="Rounded Rectangle 42"/>
          <p:cNvSpPr/>
          <p:nvPr/>
        </p:nvSpPr>
        <p:spPr>
          <a:xfrm>
            <a:off x="640080" y="4892040"/>
            <a:ext cx="10972800" cy="731520"/>
          </a:xfrm>
          <a:prstGeom prst="roundRect">
            <a:avLst/>
          </a:prstGeom>
          <a:solidFill>
            <a:srgbClr val="E4F1EA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600" b="1">
                <a:solidFill>
                  <a:srgbClr val="1B7F53"/>
                </a:solidFill>
              </a:rPr>
              <a:t>Fix: store the rate as a whole number, 49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806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B6372"/>
                </a:solidFill>
              </a:rPr>
              <a:t>A wrong clock never shows up in a training curve. Only asking for the data back reveals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</a:rPr>
              <a:t>BUG 3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900" b="1">
                <a:solidFill>
                  <a:srgbClr val="1A1D24"/>
                </a:solidFill>
              </a:rPr>
              <a:t>Measuring from the wrong point on the body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2103120"/>
            <a:ext cx="3291840" cy="1920240"/>
          </a:xfrm>
          <a:prstGeom prst="roundRect">
            <a:avLst/>
          </a:prstGeom>
          <a:solidFill>
            <a:srgbClr val="E9EEF1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762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6F8B"/>
                </a:solidFill>
              </a:rPr>
              <a:t>PELVIS</a:t>
            </a:r>
          </a:p>
        </p:txBody>
      </p:sp>
      <p:sp>
        <p:nvSpPr>
          <p:cNvPr id="6" name="Oval 5"/>
          <p:cNvSpPr/>
          <p:nvPr/>
        </p:nvSpPr>
        <p:spPr>
          <a:xfrm>
            <a:off x="2075688" y="31272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3355848" y="31272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2075688" y="367588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3355848" y="367588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2706624" y="2569464"/>
            <a:ext cx="256032" cy="256032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2706624" y="3392424"/>
            <a:ext cx="256032" cy="256032"/>
          </a:xfrm>
          <a:prstGeom prst="ellipse">
            <a:avLst/>
          </a:prstGeom>
          <a:solidFill>
            <a:srgbClr val="B4531F"/>
          </a:solidFill>
          <a:ln w="12700">
            <a:solidFill>
              <a:srgbClr val="B45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40" y="2852928"/>
            <a:ext cx="0" cy="512064"/>
          </a:xfrm>
          <a:prstGeom prst="line">
            <a:avLst/>
          </a:prstGeom>
          <a:ln w="28575">
            <a:solidFill>
              <a:srgbClr val="A63D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80944" y="289864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A63D40"/>
                </a:solidFill>
              </a:rPr>
              <a:t>83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1605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8B"/>
                </a:solidFill>
              </a:rPr>
              <a:t>what the simulator wants  ●  above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B4531F"/>
                </a:solidFill>
              </a:rPr>
              <a:t>what the cameras report  ●  below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12140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D24"/>
                </a:solidFill>
              </a:rPr>
              <a:t>The same height, measured two 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43230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</a:rPr>
              <a:t>How high is the pelvis above the floor?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35040" y="2816352"/>
          <a:ext cx="55778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920240"/>
              </a:tblGrid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5B6372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5B6372"/>
                          </a:solidFill>
                        </a:rPr>
                        <a:t>height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D24"/>
                          </a:solidFill>
                        </a:rPr>
                        <a:t>From the robot's own joint angles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D24"/>
                          </a:solidFill>
                        </a:rPr>
                        <a:t>0.767 m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D24"/>
                          </a:solidFill>
                        </a:rPr>
                        <a:t>From the cameras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D24"/>
                          </a:solidFill>
                        </a:rPr>
                        <a:t>0.684 m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63D40"/>
                          </a:solidFill>
                        </a:rPr>
                        <a:t>Difference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63D40"/>
                          </a:solidFill>
                        </a:rPr>
                        <a:t>0.083 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35040" y="431596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</a:rPr>
              <a:t>Same distance, but measured to two different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51713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</a:rPr>
              <a:t>on the body. The gap between them is the offset.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846320"/>
            <a:ext cx="5577840" cy="566928"/>
          </a:xfrm>
          <a:prstGeom prst="roundRect">
            <a:avLst/>
          </a:prstGeom>
          <a:solidFill>
            <a:srgbClr val="E4F1EA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B7F53"/>
                </a:solidFill>
              </a:rPr>
              <a:t>Fix: shift by that 83 mm, turned with the body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372"/>
                </a:solidFill>
              </a:rPr>
              <a:t>Both capture sessions gave the same answer to within 1 mm, which is what makes it a fixed offset rather than noise.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</a:rPr>
              <a:t>HOW THE NUMBERS ARE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900" b="1">
                <a:solidFill>
                  <a:srgbClr val="1A1D24"/>
                </a:solidFill>
              </a:rPr>
              <a:t>Measuring the gap: replay real actions in simulation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514600"/>
            <a:ext cx="2011680" cy="914400"/>
          </a:xfrm>
          <a:prstGeom prst="roundRect">
            <a:avLst/>
          </a:prstGeom>
          <a:solidFill>
            <a:srgbClr val="E4F1EA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A1D24"/>
                </a:solidFill>
              </a:rPr>
              <a:t>REAL ROBOT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5B6372"/>
                </a:solidFill>
              </a:rPr>
              <a:t>473 dab reps recorded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691640"/>
            <a:ext cx="2194560" cy="713232"/>
          </a:xfrm>
          <a:prstGeom prst="roundRect">
            <a:avLst/>
          </a:prstGeom>
          <a:solidFill>
            <a:srgbClr val="E4F1EA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250" b="0">
                <a:solidFill>
                  <a:srgbClr val="1A1D24"/>
                </a:solidFill>
              </a:rPr>
              <a:t>initial state s₀</a:t>
            </a:r>
          </a:p>
          <a:p>
            <a:pPr algn="ctr">
              <a:spcAft>
                <a:spcPts val="100"/>
              </a:spcAft>
            </a:pPr>
            <a:r>
              <a:rPr sz="1100" b="0">
                <a:solidFill>
                  <a:srgbClr val="5B6372"/>
                </a:solidFill>
              </a:rPr>
              <a:t>where the sim starts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2615184"/>
            <a:ext cx="2194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250" b="0">
                <a:solidFill>
                  <a:srgbClr val="1A1D24"/>
                </a:solidFill>
              </a:rPr>
              <a:t>actions aₜ</a:t>
            </a:r>
          </a:p>
          <a:p>
            <a:pPr algn="ctr">
              <a:spcAft>
                <a:spcPts val="100"/>
              </a:spcAft>
            </a:pPr>
            <a:r>
              <a:rPr sz="1100" b="0">
                <a:solidFill>
                  <a:srgbClr val="5B6372"/>
                </a:solidFill>
              </a:rPr>
              <a:t>what we commanded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4160520"/>
            <a:ext cx="2194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250" b="0">
                <a:solidFill>
                  <a:srgbClr val="1A1D24"/>
                </a:solidFill>
              </a:rPr>
              <a:t>states sₜ</a:t>
            </a:r>
          </a:p>
          <a:p>
            <a:pPr algn="ctr">
              <a:spcAft>
                <a:spcPts val="100"/>
              </a:spcAft>
            </a:pPr>
            <a:r>
              <a:rPr sz="1100" b="0">
                <a:solidFill>
                  <a:srgbClr val="5B6372"/>
                </a:solidFill>
              </a:rPr>
              <a:t>what the robot did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651760" y="2048256"/>
            <a:ext cx="365760" cy="740664"/>
          </a:xfrm>
          <a:prstGeom prst="line">
            <a:avLst/>
          </a:prstGeom>
          <a:ln w="22225">
            <a:solidFill>
              <a:srgbClr val="5B63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51760" y="2971800"/>
            <a:ext cx="365760" cy="0"/>
          </a:xfrm>
          <a:prstGeom prst="line">
            <a:avLst/>
          </a:prstGeom>
          <a:ln w="22225">
            <a:solidFill>
              <a:srgbClr val="5B63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651760" y="3154680"/>
            <a:ext cx="365760" cy="1362456"/>
          </a:xfrm>
          <a:prstGeom prst="line">
            <a:avLst/>
          </a:prstGeom>
          <a:ln w="22225">
            <a:solidFill>
              <a:srgbClr val="5B63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0" y="2011680"/>
            <a:ext cx="2286000" cy="1005840"/>
          </a:xfrm>
          <a:prstGeom prst="roundRect">
            <a:avLst/>
          </a:prstGeom>
          <a:solidFill>
            <a:srgbClr val="E9EEF1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A1D24"/>
                </a:solidFill>
              </a:rPr>
              <a:t>SIMULATOR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5B6372"/>
                </a:solidFill>
              </a:rPr>
              <a:t>start at s₀, then apply aₜ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57800" y="2048256"/>
            <a:ext cx="365760" cy="283464"/>
          </a:xfrm>
          <a:prstGeom prst="line">
            <a:avLst/>
          </a:prstGeom>
          <a:ln w="22225">
            <a:solidFill>
              <a:srgbClr val="5B63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257800" y="2697480"/>
            <a:ext cx="365760" cy="274320"/>
          </a:xfrm>
          <a:prstGeom prst="line">
            <a:avLst/>
          </a:prstGeom>
          <a:ln w="22225">
            <a:solidFill>
              <a:srgbClr val="5B63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503920" y="2148840"/>
            <a:ext cx="21031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>sim states ŝₜ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5279" y="2514600"/>
            <a:ext cx="502921" cy="0"/>
          </a:xfrm>
          <a:prstGeom prst="line">
            <a:avLst/>
          </a:prstGeom>
          <a:ln w="22225">
            <a:solidFill>
              <a:srgbClr val="5B63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03920" y="4023360"/>
            <a:ext cx="3017520" cy="868680"/>
          </a:xfrm>
          <a:prstGeom prst="roundRect">
            <a:avLst/>
          </a:prstGeom>
          <a:solidFill>
            <a:srgbClr val="F6E7E7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A63D40"/>
                </a:solidFill>
              </a:rPr>
              <a:t>| ŝₜ − sₜ |  per joint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5B6372"/>
                </a:solidFill>
              </a:rPr>
              <a:t>= THE GAP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55480" y="2926080"/>
            <a:ext cx="0" cy="1051559"/>
          </a:xfrm>
          <a:prstGeom prst="line">
            <a:avLst/>
          </a:prstGeom>
          <a:ln w="22225">
            <a:solidFill>
              <a:srgbClr val="A63D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03520" y="4517136"/>
            <a:ext cx="3154680" cy="0"/>
          </a:xfrm>
          <a:prstGeom prst="line">
            <a:avLst/>
          </a:prstGeom>
          <a:ln w="22225">
            <a:solidFill>
              <a:srgbClr val="A63D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0" y="312724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5B6372"/>
                </a:solidFill>
              </a:rPr>
              <a:t>same start, same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66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A1D24"/>
                </a:solidFill>
              </a:rPr>
              <a:t>The sim is reset to the robot's real state first, so both start from the same place.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1D24"/>
                </a:solidFill>
              </a:rPr>
              <a:t>Then the same actions go into both. Any difference after that is the simulator being wrong.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1D24"/>
                </a:solidFill>
              </a:rPr>
              <a:t>Re-anchored every 1.0 s, so small errors cannot pile up and look like a physics gap.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</a:rPr>
              <a:t>RESULT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900" b="1">
                <a:solidFill>
                  <a:srgbClr val="1A1D24"/>
                </a:solidFill>
              </a:rPr>
              <a:t>The gap is the ankles, and almost nothing 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27632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</a:rPr>
              <a:t>Error as a share of each joint's own range of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39112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A1D24"/>
                </a:solidFill>
              </a:rPr>
              <a:t>L_AnklePitch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057400"/>
            <a:ext cx="3931920" cy="237744"/>
          </a:xfrm>
          <a:prstGeom prst="round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9672" y="202082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1D24"/>
                </a:solidFill>
              </a:rPr>
              <a:t>43.2%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A1D24"/>
                </a:solidFill>
              </a:rPr>
              <a:t>L_AnkleRoll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441448"/>
            <a:ext cx="2275416" cy="237744"/>
          </a:xfrm>
          <a:prstGeom prst="round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3168" y="240487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1D24"/>
                </a:solidFill>
              </a:rPr>
              <a:t>25.0%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0720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A1D24"/>
                </a:solidFill>
              </a:rPr>
              <a:t>R_AnklePitch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2825496"/>
            <a:ext cx="1938654" cy="237744"/>
          </a:xfrm>
          <a:prstGeom prst="round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407" y="278892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1D24"/>
                </a:solidFill>
              </a:rPr>
              <a:t>21.3%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91256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</a:rPr>
              <a:t>R_HipRoll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209544"/>
            <a:ext cx="1874943" cy="237744"/>
          </a:xfrm>
          <a:prstGeom prst="roundRect">
            <a:avLst/>
          </a:prstGeom>
          <a:solidFill>
            <a:srgbClr val="C9D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695" y="31729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</a:rPr>
              <a:t>20.6%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75303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A1D24"/>
                </a:solidFill>
              </a:rPr>
              <a:t>R_AnkleRoll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3593591"/>
            <a:ext cx="1401656" cy="237744"/>
          </a:xfrm>
          <a:prstGeom prst="round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89408" y="3557015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1D24"/>
                </a:solidFill>
              </a:rPr>
              <a:t>15.4%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59352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</a:rPr>
              <a:t>L_HipYaw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3977639"/>
            <a:ext cx="992081" cy="237744"/>
          </a:xfrm>
          <a:prstGeom prst="roundRect">
            <a:avLst/>
          </a:prstGeom>
          <a:solidFill>
            <a:srgbClr val="C9D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9833" y="3941063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</a:rPr>
              <a:t>10.9%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4340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</a:rPr>
              <a:t>L_HipPitch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4600" y="4361688"/>
            <a:ext cx="646218" cy="237744"/>
          </a:xfrm>
          <a:prstGeom prst="roundRect">
            <a:avLst/>
          </a:prstGeom>
          <a:solidFill>
            <a:srgbClr val="C9D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33970" y="432511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</a:rPr>
              <a:t>7.1%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2744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</a:rPr>
              <a:t>L_Knee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600" y="4745736"/>
            <a:ext cx="318558" cy="237744"/>
          </a:xfrm>
          <a:prstGeom prst="roundRect">
            <a:avLst/>
          </a:prstGeom>
          <a:solidFill>
            <a:srgbClr val="C9D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06310" y="4709159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</a:rPr>
              <a:t>3.5%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11496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</a:rPr>
              <a:t>L_ShoulderPitch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14600" y="5129783"/>
            <a:ext cx="254846" cy="237744"/>
          </a:xfrm>
          <a:prstGeom prst="roundRect">
            <a:avLst/>
          </a:prstGeom>
          <a:solidFill>
            <a:srgbClr val="C9D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42598" y="5093207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</a:rPr>
              <a:t>2.8%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596128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D24"/>
                </a:solidFill>
              </a:rPr>
              <a:t>All four ankle joints land in the top six.  On average they are 4.79x worse than every other joint.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162763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D24"/>
                </a:solidFill>
              </a:rPr>
              <a:t>Why measure it this 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192024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</a:rPr>
              <a:t>Each bar is one joint's full travel.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212140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</a:rPr>
              <a:t>Red is how wrong the simulator is.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269748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D24"/>
                </a:solidFill>
              </a:rPr>
              <a:t>L_AnklePitch  moves 25°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2990088"/>
            <a:ext cx="3520440" cy="310896"/>
          </a:xfrm>
          <a:prstGeom prst="roundRect">
            <a:avLst/>
          </a:prstGeom>
          <a:solidFill>
            <a:srgbClr val="E9EEF1"/>
          </a:solidFill>
          <a:ln w="9525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55279" y="2990088"/>
            <a:ext cx="1520830" cy="310896"/>
          </a:xfrm>
          <a:prstGeom prst="round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337413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63D40"/>
                </a:solidFill>
              </a:rPr>
              <a:t>off by 11.0°  of  25°   =   43%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3977639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D24"/>
                </a:solidFill>
              </a:rPr>
              <a:t>L_ShoulderPitch  moves 135°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55279" y="4270248"/>
            <a:ext cx="3520440" cy="310896"/>
          </a:xfrm>
          <a:prstGeom prst="roundRect">
            <a:avLst/>
          </a:prstGeom>
          <a:solidFill>
            <a:srgbClr val="E9EEF1"/>
          </a:solidFill>
          <a:ln w="9525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955279" y="4270248"/>
            <a:ext cx="98572" cy="310896"/>
          </a:xfrm>
          <a:prstGeom prst="round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79" y="465429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B6372"/>
                </a:solidFill>
              </a:rPr>
              <a:t>off by 3.8°  of  135°   =   3%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79" y="5138928"/>
            <a:ext cx="3520440" cy="713232"/>
          </a:xfrm>
          <a:prstGeom prst="roundRect">
            <a:avLst/>
          </a:prstGeom>
          <a:solidFill>
            <a:srgbClr val="E9EEF1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1F6F8B"/>
                </a:solidFill>
              </a:rPr>
              <a:t>Same size error in degrees</a:t>
            </a:r>
          </a:p>
          <a:p>
            <a:pPr algn="ctr">
              <a:spcAft>
                <a:spcPts val="100"/>
              </a:spcAft>
            </a:pPr>
            <a:r>
              <a:rPr sz="1100" b="0">
                <a:solidFill>
                  <a:srgbClr val="5B6372"/>
                </a:solidFill>
              </a:rPr>
              <a:t>means very different things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1447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</a:rPr>
              <a:t>The paper asserts the G1's parallel-linkage ankle is the problem. This measures it, on our robot, before fitting anything.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</a:rPr>
              <a:t>THE KEY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900" b="1">
                <a:solidFill>
                  <a:srgbClr val="1A1D24"/>
                </a:solidFill>
              </a:rPr>
              <a:t>Why correcting 4 joints beats correcting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A1D24"/>
                </a:solidFill>
              </a:rPr>
              <a:t>The delta model is scored mostly on WHERE THE BODY IS (weight 3.0), barely on joint angles (0.5). That leaves a shortcut.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5257800" cy="457200"/>
          </a:xfrm>
          <a:prstGeom prst="roundRect">
            <a:avLst/>
          </a:prstGeom>
          <a:solidFill>
            <a:srgbClr val="F6E7E7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A63D40"/>
                </a:solidFill>
              </a:rPr>
              <a:t>23 DoF free to correct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463040" cy="566928"/>
          </a:xfrm>
          <a:prstGeom prst="roundRect">
            <a:avLst/>
          </a:prstGeom>
          <a:solidFill>
            <a:srgbClr val="F6E7E7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A63D40"/>
                </a:solidFill>
              </a:rPr>
              <a:t>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2788920"/>
            <a:ext cx="1463040" cy="566928"/>
          </a:xfrm>
          <a:prstGeom prst="roundRect">
            <a:avLst/>
          </a:prstGeom>
          <a:solidFill>
            <a:srgbClr val="F6E7E7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A63D40"/>
                </a:solidFill>
              </a:rPr>
              <a:t>Knee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788920"/>
            <a:ext cx="1463040" cy="566928"/>
          </a:xfrm>
          <a:prstGeom prst="roundRect">
            <a:avLst/>
          </a:prstGeom>
          <a:solidFill>
            <a:srgbClr val="F6E7E7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A63D40"/>
                </a:solidFill>
              </a:rPr>
              <a:t>Ankle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56432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</a:rPr>
              <a:t>all free  →  many ways to place the pelvis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>Bends the KNEE to put the body in the right place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26280"/>
            <a:ext cx="2514600" cy="566928"/>
          </a:xfrm>
          <a:prstGeom prst="roundRect">
            <a:avLst/>
          </a:prstGeom>
          <a:solidFill>
            <a:srgbClr val="E4F1EA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B7F53"/>
                </a:solidFill>
              </a:rPr>
              <a:t>Body position 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526280"/>
            <a:ext cx="2514600" cy="566928"/>
          </a:xfrm>
          <a:prstGeom prst="roundRect">
            <a:avLst/>
          </a:prstGeom>
          <a:solidFill>
            <a:srgbClr val="F6E7E7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A63D40"/>
                </a:solidFill>
              </a:rPr>
              <a:t>Ankle still wrong  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48840"/>
            <a:ext cx="5257800" cy="457200"/>
          </a:xfrm>
          <a:prstGeom prst="roundRect">
            <a:avLst/>
          </a:prstGeom>
          <a:solidFill>
            <a:srgbClr val="E4F1EA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B7F53"/>
                </a:solidFill>
              </a:rPr>
              <a:t>4 DoF free (ankles only)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788920"/>
            <a:ext cx="1463040" cy="566928"/>
          </a:xfrm>
          <a:prstGeom prst="roundRect">
            <a:avLst/>
          </a:prstGeom>
          <a:solidFill>
            <a:srgbClr val="E9EEF1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C9D0D6"/>
                </a:solidFill>
              </a:rPr>
              <a:t>Hip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788920"/>
            <a:ext cx="1463040" cy="566928"/>
          </a:xfrm>
          <a:prstGeom prst="roundRect">
            <a:avLst/>
          </a:prstGeom>
          <a:solidFill>
            <a:srgbClr val="E9EEF1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C9D0D6"/>
                </a:solidFill>
              </a:rPr>
              <a:t>Knee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2788920"/>
            <a:ext cx="1463040" cy="566928"/>
          </a:xfrm>
          <a:prstGeom prst="roundRect">
            <a:avLst/>
          </a:prstGeom>
          <a:solidFill>
            <a:srgbClr val="E4F1EA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B7F53"/>
                </a:solidFill>
              </a:rPr>
              <a:t>Ankle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456432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</a:rPr>
              <a:t>locked  →  only one way to place the pelvis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840480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A1D24"/>
                </a:solidFill>
              </a:rPr>
              <a:t>Must actually fix the ANKLE to place the body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526280"/>
            <a:ext cx="2514600" cy="566928"/>
          </a:xfrm>
          <a:prstGeom prst="roundRect">
            <a:avLst/>
          </a:prstGeom>
          <a:solidFill>
            <a:srgbClr val="E4F1EA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B7F53"/>
                </a:solidFill>
              </a:rPr>
              <a:t>Body position  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4526280"/>
            <a:ext cx="2514600" cy="566928"/>
          </a:xfrm>
          <a:prstGeom prst="roundRect">
            <a:avLst/>
          </a:prstGeom>
          <a:solidFill>
            <a:srgbClr val="E4F1EA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B7F53"/>
                </a:solidFill>
              </a:rPr>
              <a:t>Ankle fixed 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</a:rPr>
              <a:t>The leg is kinematically redundant: many hip/knee/ankle combinations put the pelvis in the same place. Constraining the model removes the shortcut and forces it to model the real physics.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</a:rPr>
              <a:t>RESULT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900" b="1">
                <a:solidFill>
                  <a:srgbClr val="1A1D24"/>
                </a:solidFill>
              </a:rPr>
              <a:t>4 DoF wins. 23 DoF is worse than no correction at all.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65960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2468880"/>
                <a:gridCol w="2194560"/>
                <a:gridCol w="2743200"/>
              </a:tblGrid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5B6372"/>
                          </a:solidFill>
                        </a:rPr>
                        <a:t>Delta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5B6372"/>
                          </a:solidFill>
                        </a:rPr>
                        <a:t>Joint error @1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5B6372"/>
                          </a:solidFill>
                        </a:rPr>
                        <a:t>Knee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5B6372"/>
                          </a:solidFill>
                        </a:rPr>
                        <a:t>Verdict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A1D24"/>
                          </a:solidFill>
                        </a:rPr>
                        <a:t>No correction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A1D24"/>
                          </a:solidFill>
                        </a:rPr>
                        <a:t>2.49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A1D24"/>
                          </a:solidFill>
                        </a:rPr>
                        <a:t>1.00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A1D24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B7F53"/>
                          </a:solidFill>
                        </a:rPr>
                        <a:t>4-DoF, ankles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B7F53"/>
                          </a:solidFill>
                        </a:rPr>
                        <a:t>1.46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B7F53"/>
                          </a:solidFill>
                        </a:rPr>
                        <a:t>0.99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B7F53"/>
                          </a:solidFill>
                        </a:rPr>
                        <a:t>best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A1D24"/>
                          </a:solidFill>
                        </a:rPr>
                        <a:t>23-DoF, seed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A63D40"/>
                          </a:solidFill>
                        </a:rPr>
                        <a:t>3.30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A63D40"/>
                          </a:solidFill>
                        </a:rPr>
                        <a:t>7.95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A63D40"/>
                          </a:solidFill>
                        </a:rPr>
                        <a:t>worse than nothing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A1D24"/>
                          </a:solidFill>
                        </a:rPr>
                        <a:t>23-DoF, seed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A63D40"/>
                          </a:solidFill>
                        </a:rPr>
                        <a:t>3.10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A63D40"/>
                          </a:solidFill>
                        </a:rPr>
                        <a:t>3.74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A63D40"/>
                          </a:solidFill>
                        </a:rPr>
                        <a:t>worse than nothing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931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A1D24"/>
                </a:solidFill>
              </a:rPr>
              <a:t>Look at the knees. That is the cheating, visible as a number.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A1D24"/>
                </a:solidFill>
              </a:rPr>
              <a:t>The 4-DoF model leaves them at 0.99 deg against a 1.00 deg baseline: untouched, because it cannot touch them.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A1D24"/>
                </a:solidFill>
              </a:rPr>
              <a:t>Both 23-DoF seeds wreck them (7.95 and 3.74) while fixing the ankles only half as well.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A1D24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F6F8B"/>
                </a:solidFill>
              </a:rPr>
              <a:t>The paper picks 4 DoF because it lacked data. We have the data it says is needed, and 4 DoF still wins.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</a:rPr>
              <a:t>A TRAP WORTH KNOWING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900" b="1">
                <a:solidFill>
                  <a:srgbClr val="1A1D24"/>
                </a:solidFill>
              </a:rPr>
              <a:t>Training reward picks the wrong model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057400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834640"/>
                <a:gridCol w="2926080"/>
                <a:gridCol w="2194560"/>
              </a:tblGrid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5B6372"/>
                          </a:solidFill>
                        </a:rPr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5B6372"/>
                          </a:solidFill>
                        </a:rPr>
                        <a:t>Training 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5B6372"/>
                          </a:solidFill>
                        </a:rPr>
                        <a:t>Error vs the real robot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5B6372"/>
                          </a:solidFill>
                        </a:rPr>
                        <a:t>Verdict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A1D24"/>
                          </a:solidFill>
                        </a:rPr>
                        <a:t>23-DoF seed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B7F53"/>
                          </a:solidFill>
                        </a:rPr>
                        <a:t>5.34  ← highest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A63D40"/>
                          </a:solidFill>
                        </a:rPr>
                        <a:t>3.10°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A63D40"/>
                          </a:solidFill>
                        </a:rPr>
                        <a:t>2nd worst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A1D24"/>
                          </a:solidFill>
                        </a:rPr>
                        <a:t>23-DoF seed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A1D24"/>
                          </a:solidFill>
                        </a:rPr>
                        <a:t>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A63D40"/>
                          </a:solidFill>
                        </a:rPr>
                        <a:t>3.30°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A63D40"/>
                          </a:solidFill>
                        </a:rPr>
                        <a:t>worst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5B6372"/>
                          </a:solidFill>
                        </a:rPr>
                        <a:t>no delta at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5B6372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5B6372"/>
                          </a:solidFill>
                        </a:rPr>
                        <a:t>2.49°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5B6372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A1D24"/>
                          </a:solidFill>
                        </a:rPr>
                        <a:t>4-DoF ankles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A1D24"/>
                          </a:solidFill>
                        </a:rPr>
                        <a:t>4.78  ← lowest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B7F53"/>
                          </a:solidFill>
                        </a:rPr>
                        <a:t>1.46°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B7F53"/>
                          </a:solidFill>
                        </a:rPr>
                        <a:t>best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9768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A63D40"/>
                </a:solidFill>
              </a:rPr>
              <a:t>Reward says seed 2 is the best run. Replay against the real robot says it is nearly the worst.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D24"/>
                </a:solidFill>
              </a:rPr>
              <a:t>Both 23-DoF models are worse than applying no correction at all.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D24"/>
                </a:solidFill>
              </a:rPr>
              <a:t>Choosing a checkpoint by reward, the normal thing to do, picks the wrong one.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D24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6F8B"/>
                </a:solidFill>
              </a:rPr>
              <a:t>Reward is measured in simulation. Quality can only be measured against the real robot.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</a:rPr>
              <a:t>RESULT 3  ·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900" b="1">
                <a:solidFill>
                  <a:srgbClr val="1A1D24"/>
                </a:solidFill>
              </a:rPr>
              <a:t>Why the fine-tuned policy falls 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361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A1D24"/>
                </a:solidFill>
              </a:rPr>
              <a:t>The delta model is deleted at deployment. The policy was never trained without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6F8B"/>
                </a:solidFill>
              </a:rPr>
              <a:t>IN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103120" cy="685800"/>
          </a:xfrm>
          <a:prstGeom prst="roundRect">
            <a:avLst/>
          </a:prstGeom>
          <a:solidFill>
            <a:srgbClr val="E9EEF1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A1D24"/>
                </a:solidFill>
              </a:rPr>
              <a:t>POLICY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5B6372"/>
                </a:solidFill>
              </a:rPr>
              <a:t>ankle 0.51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377440"/>
            <a:ext cx="2103120" cy="685800"/>
          </a:xfrm>
          <a:prstGeom prst="roundRect">
            <a:avLst/>
          </a:prstGeom>
          <a:solidFill>
            <a:srgbClr val="F6E7E7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A63D40"/>
                </a:solidFill>
              </a:rPr>
              <a:t>DELTA MODEL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5B6372"/>
                </a:solidFill>
              </a:rPr>
              <a:t>ankle 1.07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377440"/>
            <a:ext cx="2286000" cy="685800"/>
          </a:xfrm>
          <a:prstGeom prst="roundRect">
            <a:avLst/>
          </a:prstGeom>
          <a:solidFill>
            <a:srgbClr val="E4F1EA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B7F53"/>
                </a:solidFill>
              </a:rPr>
              <a:t>TOTAL 1.58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5B6372"/>
                </a:solidFill>
              </a:rPr>
              <a:t>into the ankles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377440"/>
            <a:ext cx="29260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250" b="0">
                <a:solidFill>
                  <a:srgbClr val="1A1D24"/>
                </a:solidFill>
              </a:rPr>
              <a:t>policy learns to balance</a:t>
            </a:r>
          </a:p>
          <a:p>
            <a:pPr algn="ctr">
              <a:spcAft>
                <a:spcPts val="100"/>
              </a:spcAft>
            </a:pPr>
            <a:r>
              <a:rPr sz="1100" b="0">
                <a:solidFill>
                  <a:srgbClr val="5B6372"/>
                </a:solidFill>
              </a:rPr>
              <a:t>in THIS world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2715768"/>
            <a:ext cx="411480" cy="0"/>
          </a:xfrm>
          <a:prstGeom prst="line">
            <a:avLst/>
          </a:prstGeom>
          <a:ln w="22225">
            <a:solidFill>
              <a:srgbClr val="5B63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49240" y="2715768"/>
            <a:ext cx="457200" cy="0"/>
          </a:xfrm>
          <a:prstGeom prst="line">
            <a:avLst/>
          </a:prstGeom>
          <a:ln w="22225">
            <a:solidFill>
              <a:srgbClr val="5B63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83879" y="2715768"/>
            <a:ext cx="457201" cy="0"/>
          </a:xfrm>
          <a:prstGeom prst="line">
            <a:avLst/>
          </a:prstGeom>
          <a:ln w="22225">
            <a:solidFill>
              <a:srgbClr val="5B63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520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A63D40"/>
                </a:solidFill>
              </a:rPr>
              <a:t>AT 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2103120" cy="685800"/>
          </a:xfrm>
          <a:prstGeom prst="roundRect">
            <a:avLst/>
          </a:prstGeom>
          <a:solidFill>
            <a:srgbClr val="E9EEF1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A1D24"/>
                </a:solidFill>
              </a:rPr>
              <a:t>POLICY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5B6372"/>
                </a:solidFill>
              </a:rPr>
              <a:t>ankle 0.51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886200"/>
            <a:ext cx="21031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C9D0D6"/>
                </a:solidFill>
              </a:rPr>
              <a:t>DELETED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3886200"/>
            <a:ext cx="2286000" cy="685800"/>
          </a:xfrm>
          <a:prstGeom prst="roundRect">
            <a:avLst/>
          </a:prstGeom>
          <a:solidFill>
            <a:srgbClr val="F6E7E7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A63D40"/>
                </a:solidFill>
              </a:rPr>
              <a:t>TOTAL 0.51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5B6372"/>
                </a:solidFill>
              </a:rPr>
              <a:t>32% of training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3886200"/>
            <a:ext cx="2926080" cy="685800"/>
          </a:xfrm>
          <a:prstGeom prst="roundRect">
            <a:avLst/>
          </a:prstGeom>
          <a:solidFill>
            <a:srgbClr val="F6E7E7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A63D40"/>
                </a:solidFill>
              </a:rPr>
              <a:t>falls over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4224528"/>
            <a:ext cx="411480" cy="0"/>
          </a:xfrm>
          <a:prstGeom prst="line">
            <a:avLst/>
          </a:prstGeom>
          <a:ln w="22225">
            <a:solidFill>
              <a:srgbClr val="C9D0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49240" y="4224528"/>
            <a:ext cx="457200" cy="0"/>
          </a:xfrm>
          <a:prstGeom prst="line">
            <a:avLst/>
          </a:prstGeom>
          <a:ln w="22225">
            <a:solidFill>
              <a:srgbClr val="A63D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183879" y="4224528"/>
            <a:ext cx="457201" cy="0"/>
          </a:xfrm>
          <a:prstGeom prst="line">
            <a:avLst/>
          </a:prstGeom>
          <a:ln w="22225">
            <a:solidFill>
              <a:srgbClr val="A63D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49834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A63D40"/>
                </a:solidFill>
              </a:rPr>
              <a:t>The delta was supposed to be a small correction. It became a co-controller.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A1D24"/>
                </a:solidFill>
              </a:rPr>
              <a:t>Its penalty term, exp(−||Δa||), goes flat once the correction is large, so nothing pulls it back down.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A1D24"/>
                </a:solidFill>
              </a:rPr>
              <a:t>The correction grew from 3.7 to 10.7 during training, with the penalty reading exactly zero.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</a:rPr>
              <a:t>WHERE THINGS 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900" b="1">
                <a:solidFill>
                  <a:srgbClr val="1A1D24"/>
                </a:solidFill>
              </a:rPr>
              <a:t>Solid, and not solid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94960" cy="457200"/>
          </a:xfrm>
          <a:prstGeom prst="roundRect">
            <a:avLst/>
          </a:prstGeom>
          <a:solidFill>
            <a:srgbClr val="E4F1EA"/>
          </a:solidFill>
          <a:ln w="12700">
            <a:solidFill>
              <a:srgbClr val="1B7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B7F53"/>
                </a:solidFill>
              </a:rPr>
              <a:t>SOLID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1A1D24"/>
                </a:solidFill>
              </a:rPr>
              <a:t>Capture pipeline fixed and validated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1D24"/>
                </a:solidFill>
              </a:rPr>
              <a:t>   473 reps, 140,821 frames, fully reproducible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1D24"/>
                </a:solidFill>
              </a:rPr>
              <a:t>Sim-to-real gap measured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1D24"/>
                </a:solidFill>
              </a:rPr>
              <a:t>   ankles 4.79x, reproduces to ~1%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1D24"/>
                </a:solidFill>
              </a:rPr>
              <a:t>4-DoF beats 23-DoF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1D24"/>
                </a:solidFill>
              </a:rPr>
              <a:t>   two seeds, independent evaluation samples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83080"/>
            <a:ext cx="5212080" cy="457200"/>
          </a:xfrm>
          <a:prstGeom prst="roundRect">
            <a:avLst/>
          </a:prstGeom>
          <a:solidFill>
            <a:srgbClr val="F6E7E7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A63D40"/>
                </a:solidFill>
              </a:rPr>
              <a:t>NOT SOLID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37744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1A1D24"/>
                </a:solidFill>
              </a:rPr>
              <a:t>No deployable policy yet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1D24"/>
                </a:solidFill>
              </a:rPr>
              <a:t>   both fine-tuned policies fall over in MuJoCo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1D24"/>
                </a:solidFill>
              </a:rPr>
              <a:t>Simulation cannot pick between them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1D24"/>
                </a:solidFill>
              </a:rPr>
              <a:t>   each policy wins in the simulator it trained in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1D24"/>
                </a:solidFill>
              </a:rPr>
              <a:t>Only one motion tested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1D24"/>
                </a:solidFill>
              </a:rPr>
              <a:t>   a standing, arm-heavy dab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D24"/>
                </a:solidFill>
              </a:rPr>
              <a:t>v6 remains the only policy validated on hardware. Nothing on the robot has changed this week.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900" b="1">
                <a:solidFill>
                  <a:srgbClr val="1A1D24"/>
                </a:solidFill>
              </a:rPr>
              <a:t>Three things, in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02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3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A63D4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828799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1A1D24"/>
                </a:solidFill>
              </a:rPr>
              <a:t>Shrink the delta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221991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B6372"/>
                </a:solidFill>
              </a:rPr>
              <a:t>Replace exp(−||Δa||) with a penalty that does not go flat, so the correction stays a correction.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6372"/>
                </a:solidFill>
              </a:rPr>
              <a:t>Nothing else works until the delta is small enough to remove safely.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502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1F6F8B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2004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1A1D24"/>
                </a:solidFill>
              </a:rPr>
              <a:t>Re-fine-tune against the smaller delta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93591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B6372"/>
                </a:solidFill>
              </a:rPr>
              <a:t>Then check it in MuJoCo. That is the gate. Nothing goes on the robot until it passes.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17720"/>
            <a:ext cx="502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1F6F8B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5720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1A1D24"/>
                </a:solidFill>
              </a:rPr>
              <a:t>Hardware A/B against v6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965192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B6372"/>
                </a:solidFill>
              </a:rPr>
              <a:t>The only test that answers whether any of this transfers. Needs robot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</a:rPr>
              <a:t>Domain randomisation was tried this week and made the dependence worse, not better. It is not the fix.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